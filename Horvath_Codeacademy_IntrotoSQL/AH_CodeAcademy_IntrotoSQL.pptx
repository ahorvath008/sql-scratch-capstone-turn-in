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6" r:id="rId2"/>
    <p:sldMasterId id="2147483704" r:id="rId3"/>
  </p:sldMasterIdLst>
  <p:notesMasterIdLst>
    <p:notesMasterId r:id="rId16"/>
  </p:notesMasterIdLst>
  <p:sldIdLst>
    <p:sldId id="263" r:id="rId4"/>
    <p:sldId id="264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75" r:id="rId15"/>
  </p:sldIdLst>
  <p:sldSz cx="9144000" cy="5143500" type="screen16x9"/>
  <p:notesSz cx="6858000" cy="9144000"/>
  <p:embeddedFontLst>
    <p:embeddedFont>
      <p:font typeface="Roboto" panose="020B0604020202020204" charset="0"/>
      <p:regular r:id="rId17"/>
      <p:bold r:id="rId18"/>
      <p:italic r:id="rId19"/>
      <p:boldItalic r:id="rId20"/>
    </p:embeddedFont>
    <p:embeddedFont>
      <p:font typeface="MS Mincho" panose="02020609040205080304" pitchFamily="49" charset="-128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41C52BF7-F10D-42DD-8479-FF2DDF1A0279}">
  <a:tblStyle styleId="{41C52BF7-F10D-42DD-8479-FF2DDF1A02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E49216-1267-4D21-B646-784D0EFEDD55}" type="slidenum">
              <a:rPr lang="en-GB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260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85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332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438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917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5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185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089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579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20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111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5845B0-0E4C-449B-90C6-313661EF4F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34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Roboto"/>
              <a:buNone/>
              <a:defRPr sz="5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○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Roboto"/>
              <a:buChar char="■"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Holi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:\SHARED\STAFF\PJ\Event Files\Compass\Accelerating Growth 2013\powerpoint layouts\images\gradient_backgroun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entagon 4"/>
          <p:cNvSpPr/>
          <p:nvPr userDrawn="1"/>
        </p:nvSpPr>
        <p:spPr>
          <a:xfrm>
            <a:off x="-1" y="1956391"/>
            <a:ext cx="7308306" cy="1371009"/>
          </a:xfrm>
          <a:prstGeom prst="homePlate">
            <a:avLst>
              <a:gd name="adj" fmla="val 0"/>
            </a:avLst>
          </a:prstGeom>
          <a:gradFill flip="none" rotWithShape="1">
            <a:gsLst>
              <a:gs pos="28000">
                <a:schemeClr val="bg1"/>
              </a:gs>
              <a:gs pos="97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1" y="2259239"/>
            <a:ext cx="5139266" cy="56016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6AB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476249" y="2827335"/>
            <a:ext cx="5129213" cy="496887"/>
          </a:xfrm>
        </p:spPr>
        <p:txBody>
          <a:bodyPr/>
          <a:lstStyle>
            <a:lvl1pPr marL="0" indent="0">
              <a:buNone/>
              <a:defRPr>
                <a:solidFill>
                  <a:srgbClr val="246AB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Shape 299">
            <a:extLst>
              <a:ext uri="{FF2B5EF4-FFF2-40B4-BE49-F238E27FC236}">
                <a16:creationId xmlns:a16="http://schemas.microsoft.com/office/drawing/2014/main" id="{D87BE429-57F6-48BE-8747-2EA73C1E9A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784496" y="176791"/>
            <a:ext cx="2024775" cy="425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0695216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oli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:\SHARED\STAFF\PJ\Event Files\Compass\Accelerating Growth 2013\powerpoint layouts\images\gradient_backgroun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entagon 4"/>
          <p:cNvSpPr/>
          <p:nvPr userDrawn="1"/>
        </p:nvSpPr>
        <p:spPr>
          <a:xfrm>
            <a:off x="-1" y="1956391"/>
            <a:ext cx="7308306" cy="1371009"/>
          </a:xfrm>
          <a:prstGeom prst="homePlate">
            <a:avLst>
              <a:gd name="adj" fmla="val 0"/>
            </a:avLst>
          </a:prstGeom>
          <a:gradFill flip="none" rotWithShape="1">
            <a:gsLst>
              <a:gs pos="28000">
                <a:schemeClr val="bg1"/>
              </a:gs>
              <a:gs pos="97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1" y="2259239"/>
            <a:ext cx="5139266" cy="56016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6AB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476249" y="2827335"/>
            <a:ext cx="5129213" cy="496887"/>
          </a:xfrm>
        </p:spPr>
        <p:txBody>
          <a:bodyPr/>
          <a:lstStyle>
            <a:lvl1pPr marL="0" indent="0">
              <a:buNone/>
              <a:defRPr>
                <a:solidFill>
                  <a:srgbClr val="246AB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0402064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6581775" cy="3533774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/>
            </a:lvl1pPr>
            <a:lvl2pPr marL="742950" indent="-285750">
              <a:buFont typeface="Arial" pitchFamily="34" charset="0"/>
              <a:buChar char="•"/>
              <a:defRPr/>
            </a:lvl2pPr>
            <a:lvl3pPr marL="1143000" indent="-228600">
              <a:buFont typeface="Arial" pitchFamily="34" charset="0"/>
              <a:buChar char="•"/>
              <a:defRPr/>
            </a:lvl3pPr>
            <a:lvl4pPr marL="1600200" indent="-228600">
              <a:buFont typeface="Arial" pitchFamily="34" charset="0"/>
              <a:buChar char="•"/>
              <a:defRPr/>
            </a:lvl4pPr>
            <a:lvl5pPr marL="2057400" indent="-228600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FB0D13E-6E56-4F14-8211-76BEA7896F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6" name="Shape 299">
            <a:extLst>
              <a:ext uri="{FF2B5EF4-FFF2-40B4-BE49-F238E27FC236}">
                <a16:creationId xmlns:a16="http://schemas.microsoft.com/office/drawing/2014/main" id="{F7F2597E-A748-4830-B9BA-C18BBF76A5E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6784496" y="176791"/>
            <a:ext cx="2024775" cy="425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019424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EA2DE5-3C17-4B27-BBCD-64482D72E7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136919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5978152-0D53-48C1-AF30-0FA8F01F4D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05747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39801"/>
            <a:ext cx="9144000" cy="4038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2040"/>
            <a:ext cx="6563072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C07063A-1987-4251-B746-8597DE4F95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717112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6025"/>
            <a:ext cx="4038600" cy="35179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6025"/>
            <a:ext cx="4038600" cy="35179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05375"/>
            <a:ext cx="2133600" cy="273050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8E6B499-8EAB-4B64-98CF-2D2FAD5F68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50454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602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95845"/>
            <a:ext cx="4040188" cy="303807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602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95845"/>
            <a:ext cx="4041775" cy="303807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2040"/>
            <a:ext cx="6563072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05375"/>
            <a:ext cx="2133600" cy="273050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B15BD5F-AE73-46C5-96E0-C7EE3C2A70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915872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oli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:\SHARED\STAFF\PJ\Event Files\Compass\Accelerating Growth 2013\powerpoint layouts\images\gradient_backgroun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entagon 4"/>
          <p:cNvSpPr/>
          <p:nvPr userDrawn="1"/>
        </p:nvSpPr>
        <p:spPr>
          <a:xfrm>
            <a:off x="-1" y="1956391"/>
            <a:ext cx="7308306" cy="1371009"/>
          </a:xfrm>
          <a:prstGeom prst="homePlate">
            <a:avLst>
              <a:gd name="adj" fmla="val 0"/>
            </a:avLst>
          </a:prstGeom>
          <a:gradFill flip="none" rotWithShape="1">
            <a:gsLst>
              <a:gs pos="28000">
                <a:schemeClr val="bg1"/>
              </a:gs>
              <a:gs pos="97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6" name="Picture 37"/>
          <p:cNvPicPr>
            <a:picLocks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6625" y="198438"/>
            <a:ext cx="140017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1" y="2259239"/>
            <a:ext cx="5139266" cy="56016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6AB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476249" y="2827335"/>
            <a:ext cx="5129213" cy="496887"/>
          </a:xfrm>
        </p:spPr>
        <p:txBody>
          <a:bodyPr/>
          <a:lstStyle>
            <a:lvl1pPr marL="0" indent="0">
              <a:buNone/>
              <a:defRPr>
                <a:solidFill>
                  <a:srgbClr val="246AB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080376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6581775" cy="3533774"/>
          </a:xfrm>
        </p:spPr>
        <p:txBody>
          <a:bodyPr/>
          <a:lstStyle>
            <a:lvl1pPr marL="342900" indent="-342900">
              <a:buFont typeface="Arial" pitchFamily="34" charset="0"/>
              <a:buChar char="•"/>
              <a:defRPr/>
            </a:lvl1pPr>
            <a:lvl2pPr marL="742950" indent="-285750">
              <a:buFont typeface="Arial" pitchFamily="34" charset="0"/>
              <a:buChar char="•"/>
              <a:defRPr/>
            </a:lvl2pPr>
            <a:lvl3pPr marL="1143000" indent="-228600">
              <a:buFont typeface="Arial" pitchFamily="34" charset="0"/>
              <a:buChar char="•"/>
              <a:defRPr/>
            </a:lvl3pPr>
            <a:lvl4pPr marL="1600200" indent="-228600">
              <a:buFont typeface="Arial" pitchFamily="34" charset="0"/>
              <a:buChar char="•"/>
              <a:defRPr/>
            </a:lvl4pPr>
            <a:lvl5pPr marL="2057400" indent="-228600"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FB0D13E-6E56-4F14-8211-76BEA7896F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60990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EA2DE5-3C17-4B27-BBCD-64482D72E7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67428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5978152-0D53-48C1-AF30-0FA8F01F4D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029476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939801"/>
            <a:ext cx="9144000" cy="40386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2040"/>
            <a:ext cx="6563072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13313"/>
            <a:ext cx="2133600" cy="27463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C07063A-1987-4251-B746-8597DE4F95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838424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6025"/>
            <a:ext cx="4038600" cy="35179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6025"/>
            <a:ext cx="4038600" cy="35179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05375"/>
            <a:ext cx="2133600" cy="273050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8E6B499-8EAB-4B64-98CF-2D2FAD5F68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90518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602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95845"/>
            <a:ext cx="4040188" cy="303807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602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95845"/>
            <a:ext cx="4041775" cy="303807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2040"/>
            <a:ext cx="6563072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4905375"/>
            <a:ext cx="2133600" cy="273050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B15BD5F-AE73-46C5-96E0-C7EE3C2A70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81858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9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ntagon 9"/>
          <p:cNvSpPr/>
          <p:nvPr userDrawn="1"/>
        </p:nvSpPr>
        <p:spPr>
          <a:xfrm>
            <a:off x="0" y="-14288"/>
            <a:ext cx="9144000" cy="958851"/>
          </a:xfrm>
          <a:prstGeom prst="homePlate">
            <a:avLst>
              <a:gd name="adj" fmla="val 0"/>
            </a:avLst>
          </a:prstGeom>
          <a:gradFill flip="none" rotWithShape="1">
            <a:gsLst>
              <a:gs pos="34000">
                <a:srgbClr val="246AB3"/>
              </a:gs>
              <a:gs pos="83000">
                <a:srgbClr val="64C4E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1913"/>
            <a:ext cx="65627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65817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entagon 10"/>
          <p:cNvSpPr/>
          <p:nvPr userDrawn="1"/>
        </p:nvSpPr>
        <p:spPr>
          <a:xfrm>
            <a:off x="-11113" y="4964113"/>
            <a:ext cx="9155113" cy="179387"/>
          </a:xfrm>
          <a:prstGeom prst="homePlate">
            <a:avLst>
              <a:gd name="adj" fmla="val 0"/>
            </a:avLst>
          </a:prstGeom>
          <a:gradFill flip="none" rotWithShape="1">
            <a:gsLst>
              <a:gs pos="34000">
                <a:srgbClr val="246AB3"/>
              </a:gs>
              <a:gs pos="83000">
                <a:srgbClr val="64C4E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4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</p:sldLayoutIdLst>
  <p:transition spd="slow"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ntagon 9"/>
          <p:cNvSpPr/>
          <p:nvPr userDrawn="1"/>
        </p:nvSpPr>
        <p:spPr>
          <a:xfrm>
            <a:off x="0" y="-14288"/>
            <a:ext cx="9144000" cy="958851"/>
          </a:xfrm>
          <a:prstGeom prst="homePlate">
            <a:avLst>
              <a:gd name="adj" fmla="val 0"/>
            </a:avLst>
          </a:prstGeom>
          <a:gradFill flip="none" rotWithShape="1">
            <a:gsLst>
              <a:gs pos="34000">
                <a:srgbClr val="246AB3"/>
              </a:gs>
              <a:gs pos="83000">
                <a:srgbClr val="64C4E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1913"/>
            <a:ext cx="65627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65817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053" name="Picture 37"/>
          <p:cNvPicPr>
            <a:picLocks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286625" y="198438"/>
            <a:ext cx="140017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Pentagon 10"/>
          <p:cNvSpPr/>
          <p:nvPr userDrawn="1"/>
        </p:nvSpPr>
        <p:spPr>
          <a:xfrm>
            <a:off x="-11113" y="4964113"/>
            <a:ext cx="9155113" cy="179387"/>
          </a:xfrm>
          <a:prstGeom prst="homePlate">
            <a:avLst>
              <a:gd name="adj" fmla="val 0"/>
            </a:avLst>
          </a:prstGeom>
          <a:gradFill flip="none" rotWithShape="1">
            <a:gsLst>
              <a:gs pos="34000">
                <a:srgbClr val="246AB3"/>
              </a:gs>
              <a:gs pos="83000">
                <a:srgbClr val="64C4E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589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</p:sldLayoutIdLst>
  <p:transition spd="slow"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2146490"/>
            <a:ext cx="9144000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bIns="0" anchor="ctr">
            <a:spAutoFit/>
          </a:bodyPr>
          <a:lstStyle/>
          <a:p>
            <a:pPr marL="180975">
              <a:lnSpc>
                <a:spcPct val="150000"/>
              </a:lnSpc>
              <a:tabLst>
                <a:tab pos="457200" algn="l"/>
                <a:tab pos="914400" algn="l"/>
                <a:tab pos="3352800" algn="l"/>
                <a:tab pos="3857625" algn="l"/>
                <a:tab pos="5124450" algn="l"/>
                <a:tab pos="5486400" algn="r"/>
              </a:tabLst>
              <a:defRPr/>
            </a:pPr>
            <a:r>
              <a:rPr lang="en-GB" altLang="ja-JP" sz="2200" b="1" kern="0" dirty="0">
                <a:solidFill>
                  <a:srgbClr val="FF0000"/>
                </a:solidFill>
                <a:latin typeface="Arial" pitchFamily="34" charset="0"/>
                <a:ea typeface="MS Mincho" pitchFamily="49" charset="-128"/>
                <a:cs typeface="Arial" pitchFamily="34" charset="0"/>
              </a:rPr>
              <a:t>Learn SQL from Scratch</a:t>
            </a:r>
          </a:p>
          <a:p>
            <a:pPr marL="180975">
              <a:lnSpc>
                <a:spcPct val="150000"/>
              </a:lnSpc>
              <a:tabLst>
                <a:tab pos="457200" algn="l"/>
                <a:tab pos="914400" algn="l"/>
                <a:tab pos="3352800" algn="l"/>
                <a:tab pos="3857625" algn="l"/>
                <a:tab pos="5124450" algn="l"/>
                <a:tab pos="5486400" algn="r"/>
              </a:tabLst>
              <a:defRPr/>
            </a:pPr>
            <a:r>
              <a:rPr lang="en-GB" altLang="ja-JP" sz="2200" b="1" dirty="0">
                <a:solidFill>
                  <a:srgbClr val="FF0000"/>
                </a:solidFill>
                <a:latin typeface="Arial" pitchFamily="34" charset="0"/>
                <a:ea typeface="MS Mincho" pitchFamily="49" charset="-128"/>
                <a:cs typeface="Arial" pitchFamily="34" charset="0"/>
              </a:rPr>
              <a:t>Warby Parker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14313" y="3805238"/>
            <a:ext cx="6823075" cy="800219"/>
          </a:xfrm>
          <a:prstGeom prst="rect">
            <a:avLst/>
          </a:prstGeom>
        </p:spPr>
        <p:txBody>
          <a:bodyPr anchor="t">
            <a:spAutoFit/>
          </a:bodyPr>
          <a:lstStyle/>
          <a:p>
            <a:pPr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cs typeface="+mn-cs"/>
              </a:rPr>
              <a:t>Andras Horvath</a:t>
            </a:r>
            <a:endParaRPr lang="en-GB" sz="1200" kern="0" dirty="0">
              <a:solidFill>
                <a:schemeClr val="bg1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cs typeface="+mn-cs"/>
              </a:rPr>
              <a:t>10</a:t>
            </a:r>
            <a:r>
              <a:rPr lang="en-GB" sz="1200" kern="0" dirty="0">
                <a:solidFill>
                  <a:schemeClr val="bg1"/>
                </a:solidFill>
                <a:latin typeface="+mn-lt"/>
                <a:cs typeface="+mn-cs"/>
              </a:rPr>
              <a:t> July 2018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200" kern="0" dirty="0">
              <a:solidFill>
                <a:schemeClr val="bg1"/>
              </a:solidFill>
              <a:latin typeface="+mn-lt"/>
              <a:cs typeface="Arial"/>
            </a:endParaRPr>
          </a:p>
        </p:txBody>
      </p:sp>
      <p:pic>
        <p:nvPicPr>
          <p:cNvPr id="6" name="Shape 299">
            <a:extLst>
              <a:ext uri="{FF2B5EF4-FFF2-40B4-BE49-F238E27FC236}">
                <a16:creationId xmlns:a16="http://schemas.microsoft.com/office/drawing/2014/main" id="{5DC57FE6-29C6-4F7F-9132-82C783B817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4496" y="176791"/>
            <a:ext cx="2024775" cy="425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37632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>
                <a:latin typeface="Arial" charset="0"/>
                <a:cs typeface="Arial" charset="0"/>
              </a:rPr>
              <a:t>Content</a:t>
            </a:r>
          </a:p>
        </p:txBody>
      </p:sp>
      <p:sp>
        <p:nvSpPr>
          <p:cNvPr id="11267" name="Content Placeholder 14"/>
          <p:cNvSpPr>
            <a:spLocks noGrp="1"/>
          </p:cNvSpPr>
          <p:nvPr>
            <p:ph idx="1"/>
          </p:nvPr>
        </p:nvSpPr>
        <p:spPr>
          <a:xfrm>
            <a:off x="1957686" y="1203607"/>
            <a:ext cx="6463578" cy="3730718"/>
          </a:xfrm>
        </p:spPr>
        <p:txBody>
          <a:bodyPr/>
          <a:lstStyle/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Short Introduction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Exercise 1 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Exercise 2 and Exercise 3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Font typeface="Arial" charset="0"/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Exercise 4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Exercise 5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Exercise 6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Font typeface="Arial" charset="0"/>
              <a:buNone/>
            </a:pPr>
            <a:r>
              <a:rPr lang="en-US" sz="1400" dirty="0">
                <a:solidFill>
                  <a:schemeClr val="tx2"/>
                </a:solidFill>
                <a:latin typeface="Arial" charset="0"/>
                <a:cs typeface="Arial" charset="0"/>
              </a:rPr>
              <a:t>Insights</a:t>
            </a:r>
          </a:p>
          <a:p>
            <a:pPr marL="179388" indent="-179388" eaLnBrk="1" hangingPunct="1">
              <a:spcBef>
                <a:spcPts val="1000"/>
              </a:spcBef>
              <a:spcAft>
                <a:spcPts val="0"/>
              </a:spcAft>
              <a:buFont typeface="Arial" charset="0"/>
              <a:buNone/>
            </a:pPr>
            <a:endParaRPr lang="en-US" sz="1400" dirty="0">
              <a:solidFill>
                <a:schemeClr val="tx2"/>
              </a:solidFill>
              <a:latin typeface="Arial" charset="0"/>
              <a:cs typeface="Arial" charset="0"/>
            </a:endParaRPr>
          </a:p>
          <a:p>
            <a:pPr marL="179388" indent="-179388" eaLnBrk="1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charset="0"/>
              <a:buNone/>
            </a:pPr>
            <a:endParaRPr lang="en-US" sz="1400" dirty="0">
              <a:solidFill>
                <a:schemeClr val="tx2"/>
              </a:solidFill>
              <a:latin typeface="Arial" charset="0"/>
              <a:cs typeface="Arial" charset="0"/>
            </a:endParaRPr>
          </a:p>
        </p:txBody>
      </p:sp>
      <p:grpSp>
        <p:nvGrpSpPr>
          <p:cNvPr id="11269" name="Group 9"/>
          <p:cNvGrpSpPr>
            <a:grpSpLocks/>
          </p:cNvGrpSpPr>
          <p:nvPr/>
        </p:nvGrpSpPr>
        <p:grpSpPr bwMode="auto">
          <a:xfrm>
            <a:off x="1439580" y="1192145"/>
            <a:ext cx="352425" cy="369887"/>
            <a:chOff x="1" y="-48138"/>
            <a:chExt cx="1039018" cy="1484312"/>
          </a:xfrm>
        </p:grpSpPr>
        <p:sp>
          <p:nvSpPr>
            <p:cNvPr id="19" name="Chevron 18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 tIns="4680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Chevron 4"/>
            <p:cNvSpPr/>
            <p:nvPr/>
          </p:nvSpPr>
          <p:spPr>
            <a:xfrm>
              <a:off x="1" y="518830"/>
              <a:ext cx="1039018" cy="4459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270" name="Group 32"/>
          <p:cNvGrpSpPr>
            <a:grpSpLocks/>
          </p:cNvGrpSpPr>
          <p:nvPr/>
        </p:nvGrpSpPr>
        <p:grpSpPr bwMode="auto">
          <a:xfrm>
            <a:off x="1451287" y="1527665"/>
            <a:ext cx="352425" cy="369887"/>
            <a:chOff x="1" y="-48138"/>
            <a:chExt cx="1039018" cy="1484312"/>
          </a:xfrm>
        </p:grpSpPr>
        <p:sp>
          <p:nvSpPr>
            <p:cNvPr id="34" name="Chevron 33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Chevron 4"/>
            <p:cNvSpPr/>
            <p:nvPr/>
          </p:nvSpPr>
          <p:spPr>
            <a:xfrm>
              <a:off x="1" y="518830"/>
              <a:ext cx="1039018" cy="4459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8" name="Chevron 4"/>
          <p:cNvSpPr/>
          <p:nvPr/>
        </p:nvSpPr>
        <p:spPr bwMode="auto">
          <a:xfrm>
            <a:off x="6143200" y="4362641"/>
            <a:ext cx="352425" cy="111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9050" tIns="19050" rIns="19050" bIns="19050" spcCol="1270"/>
          <a:lstStyle/>
          <a:p>
            <a:pPr marL="0" marR="0" lvl="0" indent="0" algn="ctr" defTabSz="1333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7" name="Group 38"/>
          <p:cNvGrpSpPr>
            <a:grpSpLocks/>
          </p:cNvGrpSpPr>
          <p:nvPr/>
        </p:nvGrpSpPr>
        <p:grpSpPr bwMode="auto">
          <a:xfrm>
            <a:off x="1439579" y="1860993"/>
            <a:ext cx="352425" cy="369888"/>
            <a:chOff x="1" y="-48138"/>
            <a:chExt cx="1039018" cy="1484312"/>
          </a:xfrm>
        </p:grpSpPr>
        <p:sp>
          <p:nvSpPr>
            <p:cNvPr id="18" name="Chevron 17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kern="1200" dirty="0">
                  <a:solidFill>
                    <a:srgbClr val="FFFFFF"/>
                  </a:solidFill>
                  <a:latin typeface="Arial"/>
                </a:rPr>
                <a:t>3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Chevron 4"/>
            <p:cNvSpPr/>
            <p:nvPr/>
          </p:nvSpPr>
          <p:spPr>
            <a:xfrm>
              <a:off x="1" y="518832"/>
              <a:ext cx="1039018" cy="445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2" name="Group 38"/>
          <p:cNvGrpSpPr>
            <a:grpSpLocks/>
          </p:cNvGrpSpPr>
          <p:nvPr/>
        </p:nvGrpSpPr>
        <p:grpSpPr bwMode="auto">
          <a:xfrm>
            <a:off x="1451287" y="2173168"/>
            <a:ext cx="352425" cy="369888"/>
            <a:chOff x="1" y="-48138"/>
            <a:chExt cx="1039018" cy="1484312"/>
          </a:xfrm>
        </p:grpSpPr>
        <p:sp>
          <p:nvSpPr>
            <p:cNvPr id="23" name="Chevron 22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kern="1200" dirty="0">
                  <a:solidFill>
                    <a:srgbClr val="FFFFFF"/>
                  </a:solidFill>
                  <a:latin typeface="Arial"/>
                </a:rPr>
                <a:t>4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Chevron 4"/>
            <p:cNvSpPr/>
            <p:nvPr/>
          </p:nvSpPr>
          <p:spPr>
            <a:xfrm>
              <a:off x="1" y="518832"/>
              <a:ext cx="1039018" cy="445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grpSp>
        <p:nvGrpSpPr>
          <p:cNvPr id="25" name="Group 38"/>
          <p:cNvGrpSpPr>
            <a:grpSpLocks/>
          </p:cNvGrpSpPr>
          <p:nvPr/>
        </p:nvGrpSpPr>
        <p:grpSpPr bwMode="auto">
          <a:xfrm>
            <a:off x="1451287" y="2479835"/>
            <a:ext cx="352425" cy="369888"/>
            <a:chOff x="1" y="-48138"/>
            <a:chExt cx="1039018" cy="1484312"/>
          </a:xfrm>
        </p:grpSpPr>
        <p:sp>
          <p:nvSpPr>
            <p:cNvPr id="26" name="Chevron 25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Chevron 4"/>
            <p:cNvSpPr/>
            <p:nvPr/>
          </p:nvSpPr>
          <p:spPr>
            <a:xfrm>
              <a:off x="1" y="518832"/>
              <a:ext cx="1039018" cy="445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0" name="Group 38"/>
          <p:cNvGrpSpPr>
            <a:grpSpLocks/>
          </p:cNvGrpSpPr>
          <p:nvPr/>
        </p:nvGrpSpPr>
        <p:grpSpPr bwMode="auto">
          <a:xfrm>
            <a:off x="1451287" y="2833934"/>
            <a:ext cx="355533" cy="913707"/>
            <a:chOff x="-9163" y="-2701826"/>
            <a:chExt cx="1048182" cy="3666588"/>
          </a:xfrm>
        </p:grpSpPr>
        <p:sp>
          <p:nvSpPr>
            <p:cNvPr id="31" name="Chevron 30"/>
            <p:cNvSpPr/>
            <p:nvPr/>
          </p:nvSpPr>
          <p:spPr>
            <a:xfrm rot="5400000">
              <a:off x="-231810" y="-247917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kern="1200" dirty="0">
                  <a:solidFill>
                    <a:srgbClr val="FFFFFF"/>
                  </a:solidFill>
                  <a:latin typeface="Arial"/>
                </a:rPr>
                <a:t>6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Chevron 4"/>
            <p:cNvSpPr/>
            <p:nvPr/>
          </p:nvSpPr>
          <p:spPr>
            <a:xfrm>
              <a:off x="1" y="518832"/>
              <a:ext cx="1039018" cy="445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3" name="Group 38"/>
          <p:cNvGrpSpPr>
            <a:grpSpLocks/>
          </p:cNvGrpSpPr>
          <p:nvPr/>
        </p:nvGrpSpPr>
        <p:grpSpPr bwMode="auto">
          <a:xfrm>
            <a:off x="1433723" y="2730139"/>
            <a:ext cx="364135" cy="829230"/>
            <a:chOff x="-34522" y="-1891417"/>
            <a:chExt cx="1073541" cy="3327591"/>
          </a:xfrm>
        </p:grpSpPr>
        <p:sp>
          <p:nvSpPr>
            <p:cNvPr id="36" name="Chevron 35"/>
            <p:cNvSpPr/>
            <p:nvPr/>
          </p:nvSpPr>
          <p:spPr>
            <a:xfrm rot="5400000">
              <a:off x="-222646" y="174509"/>
              <a:ext cx="1484312" cy="1039018"/>
            </a:xfrm>
            <a:prstGeom prst="chevron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vert="vert270" lIns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100" kern="1200" dirty="0">
                  <a:solidFill>
                    <a:srgbClr val="FFFFFF"/>
                  </a:solidFill>
                  <a:latin typeface="Arial"/>
                </a:rPr>
                <a:t>7</a:t>
              </a: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Chevron 4"/>
            <p:cNvSpPr/>
            <p:nvPr/>
          </p:nvSpPr>
          <p:spPr>
            <a:xfrm>
              <a:off x="-34522" y="-1891417"/>
              <a:ext cx="1039018" cy="4459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9050" tIns="19050" rIns="19050" bIns="19050" spcCol="1270"/>
            <a:lstStyle/>
            <a:p>
              <a:pPr marL="0" marR="0" lvl="0" indent="0" algn="ctr" defTabSz="1333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4" name="Chevron 4"/>
          <p:cNvSpPr/>
          <p:nvPr/>
        </p:nvSpPr>
        <p:spPr bwMode="auto">
          <a:xfrm>
            <a:off x="1451288" y="4295173"/>
            <a:ext cx="352425" cy="11112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9050" tIns="19050" rIns="19050" bIns="19050" spcCol="1270"/>
          <a:lstStyle/>
          <a:p>
            <a:pPr marL="0" marR="0" lvl="0" indent="0" algn="ctr" defTabSz="1333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19005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Short Introduction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B98CD9-AEB4-4F33-A7C7-32A4293D8AEE}"/>
              </a:ext>
            </a:extLst>
          </p:cNvPr>
          <p:cNvSpPr txBox="1"/>
          <p:nvPr/>
        </p:nvSpPr>
        <p:spPr>
          <a:xfrm>
            <a:off x="199605" y="1190722"/>
            <a:ext cx="8657692" cy="3373400"/>
          </a:xfrm>
          <a:prstGeom prst="rect">
            <a:avLst/>
          </a:prstGeom>
          <a:solidFill>
            <a:srgbClr val="CC9900"/>
          </a:solidFill>
          <a:ln>
            <a:solidFill>
              <a:schemeClr val="tx2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b="1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Objective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200" kern="1200" dirty="0">
                <a:solidFill>
                  <a:srgbClr val="002060"/>
                </a:solidFill>
                <a:latin typeface="Arial"/>
                <a:cs typeface="Arial"/>
              </a:rPr>
              <a:t>The objective of this presentation is to help Warby Parker management make data-driven decisions on key processes, more specifically to address questions around the conversion rates within its sales/marketing “funnel”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GB" sz="1200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B. Organisational Snapshot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200" kern="1200" dirty="0">
                <a:solidFill>
                  <a:srgbClr val="002060"/>
                </a:solidFill>
                <a:latin typeface="Arial"/>
                <a:cs typeface="Arial"/>
              </a:rPr>
              <a:t>The business is a maker and seller of quality leisure eyewear targeting a somewhat-pretentious, affluent hipster demographic in the US. 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GB" sz="1200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C</a:t>
            </a:r>
            <a:r>
              <a:rPr lang="en-GB" sz="1200" b="1" kern="1200" dirty="0">
                <a:solidFill>
                  <a:srgbClr val="002060"/>
                </a:solidFill>
                <a:cs typeface="Arial"/>
              </a:rPr>
              <a:t>. Methodology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en-GB" sz="1200" kern="1200" dirty="0">
                <a:solidFill>
                  <a:srgbClr val="002060"/>
                </a:solidFill>
                <a:latin typeface="Arial"/>
                <a:cs typeface="Arial"/>
              </a:rPr>
              <a:t>Sales / marketing and customer data were analysed via SQL. 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003556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1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objective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of this simply query is to identify the data types within the database.   These are described below: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Shape 323">
            <a:extLst>
              <a:ext uri="{FF2B5EF4-FFF2-40B4-BE49-F238E27FC236}">
                <a16:creationId xmlns:a16="http://schemas.microsoft.com/office/drawing/2014/main" id="{8DCF2338-1F1D-4CAA-8D72-AB145245A48B}"/>
              </a:ext>
            </a:extLst>
          </p:cNvPr>
          <p:cNvSpPr txBox="1"/>
          <p:nvPr/>
        </p:nvSpPr>
        <p:spPr>
          <a:xfrm>
            <a:off x="5179100" y="1201325"/>
            <a:ext cx="3870900" cy="3746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Documentation of code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* FROM Survey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Limit 10;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" name="Shape 325">
            <a:extLst>
              <a:ext uri="{FF2B5EF4-FFF2-40B4-BE49-F238E27FC236}">
                <a16:creationId xmlns:a16="http://schemas.microsoft.com/office/drawing/2014/main" id="{5649CF29-417D-45F2-AF27-C1F81E2AC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2219838"/>
              </p:ext>
            </p:extLst>
          </p:nvPr>
        </p:nvGraphicFramePr>
        <p:xfrm>
          <a:off x="177975" y="3549218"/>
          <a:ext cx="4920900" cy="1209280"/>
        </p:xfrm>
        <a:graphic>
          <a:graphicData uri="http://schemas.openxmlformats.org/drawingml/2006/table">
            <a:tbl>
              <a:tblPr>
                <a:noFill/>
                <a:tableStyleId>{41C52BF7-F10D-42DD-8479-FF2DDF1A0279}</a:tableStyleId>
              </a:tblPr>
              <a:tblGrid>
                <a:gridCol w="145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SG" sz="1000" b="1" u="none" strike="noStrike" cap="none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04056">
                        <a:alpha val="8235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SG" sz="1000" b="1" u="none" strike="noStrike" cap="none" dirty="0">
                          <a:solidFill>
                            <a:srgbClr val="FFFFFF"/>
                          </a:solidFill>
                        </a:rPr>
                        <a:t>User ID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04056">
                        <a:alpha val="8235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SG" sz="1000" b="1" u="none" strike="noStrike" cap="none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204056">
                        <a:alpha val="8235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75">
                <a:tc>
                  <a:txBody>
                    <a:bodyPr/>
                    <a:lstStyle/>
                    <a:p>
                      <a:pPr algn="ctr"/>
                      <a:r>
                        <a:rPr lang="en-SG" sz="1000" dirty="0"/>
                        <a:t>1. What are you looking for?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005e7f99-d48c-4fce-b605-10506c85aaf7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Women's Styles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75"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2. What's your fit?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/>
                        <a:t>005e7f99-d48c-4fce-b605-10506c85aaf7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000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6431717-B694-4BE3-9A46-C7A088B68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99" y="1860151"/>
            <a:ext cx="4054590" cy="933450"/>
          </a:xfrm>
          <a:prstGeom prst="rect">
            <a:avLst/>
          </a:prstGeom>
        </p:spPr>
      </p:pic>
      <p:sp>
        <p:nvSpPr>
          <p:cNvPr id="10" name="Shape 324">
            <a:extLst>
              <a:ext uri="{FF2B5EF4-FFF2-40B4-BE49-F238E27FC236}">
                <a16:creationId xmlns:a16="http://schemas.microsoft.com/office/drawing/2014/main" id="{AC251052-5267-45D9-AFA0-758897A49A57}"/>
              </a:ext>
            </a:extLst>
          </p:cNvPr>
          <p:cNvSpPr txBox="1"/>
          <p:nvPr/>
        </p:nvSpPr>
        <p:spPr>
          <a:xfrm>
            <a:off x="177975" y="2975026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objective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of this simply query is to identify the data types within the database.   These are described below: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8775017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2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result of the query shows the breakdown of users who have answered each question. 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Shape 323">
            <a:extLst>
              <a:ext uri="{FF2B5EF4-FFF2-40B4-BE49-F238E27FC236}">
                <a16:creationId xmlns:a16="http://schemas.microsoft.com/office/drawing/2014/main" id="{8DCF2338-1F1D-4CAA-8D72-AB145245A48B}"/>
              </a:ext>
            </a:extLst>
          </p:cNvPr>
          <p:cNvSpPr txBox="1"/>
          <p:nvPr/>
        </p:nvSpPr>
        <p:spPr>
          <a:xfrm>
            <a:off x="341365" y="4379026"/>
            <a:ext cx="3870900" cy="5438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question,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AS 'Count’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FROM Survey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Shape 324">
            <a:extLst>
              <a:ext uri="{FF2B5EF4-FFF2-40B4-BE49-F238E27FC236}">
                <a16:creationId xmlns:a16="http://schemas.microsoft.com/office/drawing/2014/main" id="{AC251052-5267-45D9-AFA0-758897A49A57}"/>
              </a:ext>
            </a:extLst>
          </p:cNvPr>
          <p:cNvSpPr txBox="1"/>
          <p:nvPr/>
        </p:nvSpPr>
        <p:spPr>
          <a:xfrm>
            <a:off x="5243945" y="1201323"/>
            <a:ext cx="3678382" cy="1451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Percentage breakdown of responses (calculated in external Excel sheet). 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The gradually decreasing % of respondents is likely due to users simply abandoning filling out the survey.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C3FC7-B05B-4F9F-84C4-51CE87E8A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6" y="1796761"/>
            <a:ext cx="4920900" cy="2533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C505ED-1BC3-455F-B726-C3F5BCD4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190" y="2722418"/>
            <a:ext cx="3629891" cy="223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7887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2 and Exercise 3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result of the query shows the breakdown of users who have answered each question. 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Shape 323">
            <a:extLst>
              <a:ext uri="{FF2B5EF4-FFF2-40B4-BE49-F238E27FC236}">
                <a16:creationId xmlns:a16="http://schemas.microsoft.com/office/drawing/2014/main" id="{8DCF2338-1F1D-4CAA-8D72-AB145245A48B}"/>
              </a:ext>
            </a:extLst>
          </p:cNvPr>
          <p:cNvSpPr txBox="1"/>
          <p:nvPr/>
        </p:nvSpPr>
        <p:spPr>
          <a:xfrm>
            <a:off x="341365" y="4379026"/>
            <a:ext cx="3870900" cy="54381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question,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AS 'Count’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FROM Survey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Shape 324">
            <a:extLst>
              <a:ext uri="{FF2B5EF4-FFF2-40B4-BE49-F238E27FC236}">
                <a16:creationId xmlns:a16="http://schemas.microsoft.com/office/drawing/2014/main" id="{AC251052-5267-45D9-AFA0-758897A49A57}"/>
              </a:ext>
            </a:extLst>
          </p:cNvPr>
          <p:cNvSpPr txBox="1"/>
          <p:nvPr/>
        </p:nvSpPr>
        <p:spPr>
          <a:xfrm>
            <a:off x="5243945" y="1201323"/>
            <a:ext cx="3678382" cy="1451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Percentage breakdown of responses (calculated in external Excel sheet). 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The gradually decreasing % of respondents is likely due to users simply abandoning filling out the survey.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C3FC7-B05B-4F9F-84C4-51CE87E8A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6" y="1796761"/>
            <a:ext cx="4920900" cy="2533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C505ED-1BC3-455F-B726-C3F5BCD4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190" y="2722418"/>
            <a:ext cx="3629891" cy="223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0478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4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breakdown of the 3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tables in question is below: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8503A9-18C6-43B7-BC34-2A692F68E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2" y="3600828"/>
            <a:ext cx="2607694" cy="895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F84A2E-6CA1-4303-9A62-FFA691F5F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492" y="1971153"/>
            <a:ext cx="2846584" cy="2525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67E54A-CA4D-4380-8459-C2B6303EA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21" y="1971153"/>
            <a:ext cx="2607694" cy="1406668"/>
          </a:xfrm>
          <a:prstGeom prst="rect">
            <a:avLst/>
          </a:prstGeom>
        </p:spPr>
      </p:pic>
      <p:sp>
        <p:nvSpPr>
          <p:cNvPr id="14" name="Shape 323">
            <a:extLst>
              <a:ext uri="{FF2B5EF4-FFF2-40B4-BE49-F238E27FC236}">
                <a16:creationId xmlns:a16="http://schemas.microsoft.com/office/drawing/2014/main" id="{FE894AD4-43D4-4274-AF9A-9B96FC343729}"/>
              </a:ext>
            </a:extLst>
          </p:cNvPr>
          <p:cNvSpPr txBox="1"/>
          <p:nvPr/>
        </p:nvSpPr>
        <p:spPr>
          <a:xfrm>
            <a:off x="6107124" y="1201325"/>
            <a:ext cx="2910061" cy="3430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Documentation of code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* FROM quiz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Limit 5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</a:t>
            </a: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Limit 5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* from purchase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Limit 5;</a:t>
            </a:r>
          </a:p>
        </p:txBody>
      </p:sp>
    </p:spTree>
    <p:extLst>
      <p:ext uri="{BB962C8B-B14F-4D97-AF65-F5344CB8AC3E}">
        <p14:creationId xmlns:p14="http://schemas.microsoft.com/office/powerpoint/2010/main" val="289616825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5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54682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The result of the top 10 entries from the query that reflects the “join” of the 3 database to allow for an in-depth analysis of the sales funnel</a:t>
            </a:r>
            <a:endParaRPr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Shape 323">
            <a:extLst>
              <a:ext uri="{FF2B5EF4-FFF2-40B4-BE49-F238E27FC236}">
                <a16:creationId xmlns:a16="http://schemas.microsoft.com/office/drawing/2014/main" id="{FE894AD4-43D4-4274-AF9A-9B96FC343729}"/>
              </a:ext>
            </a:extLst>
          </p:cNvPr>
          <p:cNvSpPr txBox="1"/>
          <p:nvPr/>
        </p:nvSpPr>
        <p:spPr>
          <a:xfrm>
            <a:off x="5219422" y="1201325"/>
            <a:ext cx="3797764" cy="3430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Documentation of code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distinct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quiz.user_id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IS NOT NULL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',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home_try_on.number_of_pairs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purchase.user_id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IS NOT NULL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is_purchase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’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from quiz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LEFT JOIN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quiz.user_id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purchase ON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purchase.user_id</a:t>
            </a: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Limit 10;</a:t>
            </a:r>
            <a:endParaRPr sz="9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5FCC83-6411-4262-9342-126348AE8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82" y="1909589"/>
            <a:ext cx="4369611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2261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6.1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5" y="1201325"/>
            <a:ext cx="4920900" cy="48731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6.1 Analysis of conversions </a:t>
            </a:r>
            <a:r>
              <a:rPr lang="en-US" sz="1200" i="1" dirty="0">
                <a:latin typeface="Roboto"/>
                <a:ea typeface="Roboto"/>
                <a:cs typeface="Roboto"/>
                <a:sym typeface="Roboto"/>
              </a:rPr>
              <a:t>(from quiz to try-on to purchase)</a:t>
            </a:r>
            <a:endParaRPr sz="1200" b="0" i="1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Shape 323">
            <a:extLst>
              <a:ext uri="{FF2B5EF4-FFF2-40B4-BE49-F238E27FC236}">
                <a16:creationId xmlns:a16="http://schemas.microsoft.com/office/drawing/2014/main" id="{FE894AD4-43D4-4274-AF9A-9B96FC343729}"/>
              </a:ext>
            </a:extLst>
          </p:cNvPr>
          <p:cNvSpPr txBox="1"/>
          <p:nvPr/>
        </p:nvSpPr>
        <p:spPr>
          <a:xfrm>
            <a:off x="5346236" y="1201325"/>
            <a:ext cx="3797764" cy="3430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WITH Sales AS (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SELECT distinct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quiz.user_id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IS NOT NULL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',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home_try_on.number_of_pairs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purchase.user_id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IS NOT NULL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is_purchase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' from quiz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LEFT JOIN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ON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quiz.user_id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LEFT JOIN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	purchase ON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purchase.user_id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count(*)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num_quiz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', SUM(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), sum(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is_purchase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1.0 * SUM(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/ COUNT(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home_try_on_per_user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',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1.0 * SUM(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is_purchase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/ SUM(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is_home_try_on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AS '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home_try_on_to_purchase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’</a:t>
            </a:r>
          </a:p>
          <a:p>
            <a:pPr lvl="0">
              <a:buClr>
                <a:schemeClr val="dk1"/>
              </a:buClr>
              <a:buSzPts val="1100"/>
            </a:pPr>
            <a:endParaRPr lang="en-SG" sz="9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from Sales;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ACA21A-4F3F-4912-8E82-FB91A87C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65" y="1990583"/>
            <a:ext cx="4400700" cy="447675"/>
          </a:xfrm>
          <a:prstGeom prst="rect">
            <a:avLst/>
          </a:prstGeom>
        </p:spPr>
      </p:pic>
      <p:sp>
        <p:nvSpPr>
          <p:cNvPr id="10" name="Shape 324">
            <a:extLst>
              <a:ext uri="{FF2B5EF4-FFF2-40B4-BE49-F238E27FC236}">
                <a16:creationId xmlns:a16="http://schemas.microsoft.com/office/drawing/2014/main" id="{7EDDD5BF-2F1B-46CE-92AD-4694DAD92278}"/>
              </a:ext>
            </a:extLst>
          </p:cNvPr>
          <p:cNvSpPr txBox="1"/>
          <p:nvPr/>
        </p:nvSpPr>
        <p:spPr>
          <a:xfrm>
            <a:off x="73420" y="2740205"/>
            <a:ext cx="5146002" cy="1985307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the total number of 1000 users who took the survey </a:t>
            </a:r>
            <a:r>
              <a:rPr lang="en-US" sz="1200" b="1" i="1" dirty="0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200" b="1" i="1" dirty="0" err="1">
                <a:latin typeface="Roboto"/>
                <a:ea typeface="Roboto"/>
                <a:cs typeface="Roboto"/>
                <a:sym typeface="Roboto"/>
              </a:rPr>
              <a:t>num_quiz</a:t>
            </a:r>
            <a:r>
              <a:rPr lang="en-US" sz="1200" b="1" i="1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1" dirty="0">
                <a:latin typeface="Roboto"/>
                <a:ea typeface="Roboto"/>
                <a:cs typeface="Roboto"/>
                <a:sym typeface="Roboto"/>
              </a:rPr>
              <a:t>	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200" b="1" i="1" dirty="0">
                <a:latin typeface="Roboto"/>
                <a:ea typeface="Roboto"/>
                <a:cs typeface="Roboto"/>
                <a:sym typeface="Roboto"/>
              </a:rPr>
              <a:t>                     </a:t>
            </a:r>
            <a:r>
              <a:rPr lang="en-US" sz="1000" b="1" i="1" dirty="0">
                <a:latin typeface="Roboto"/>
                <a:ea typeface="Roboto"/>
                <a:cs typeface="Roboto"/>
                <a:sym typeface="Roboto"/>
              </a:rPr>
              <a:t>75% of respondents ended up trying a set of glasses (750 respondents)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200" b="1" i="1" dirty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200" b="1" i="1" dirty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000" b="1" i="1" dirty="0">
                <a:latin typeface="Roboto"/>
                <a:ea typeface="Roboto"/>
                <a:sym typeface="Roboto"/>
              </a:rPr>
              <a:t>                        66% of these respondents ended up making a purchase (495 respondents) </a:t>
            </a:r>
            <a:endParaRPr sz="1000" b="1" i="1" dirty="0">
              <a:latin typeface="Roboto"/>
              <a:ea typeface="Roboto"/>
              <a:sym typeface="Roboto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9647C2E-1471-4603-8823-1197C88E171E}"/>
              </a:ext>
            </a:extLst>
          </p:cNvPr>
          <p:cNvSpPr/>
          <p:nvPr/>
        </p:nvSpPr>
        <p:spPr>
          <a:xfrm>
            <a:off x="168392" y="3271244"/>
            <a:ext cx="663006" cy="2643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E9BCB69-8DCA-4260-8A19-88F6CA5B9F6E}"/>
              </a:ext>
            </a:extLst>
          </p:cNvPr>
          <p:cNvSpPr/>
          <p:nvPr/>
        </p:nvSpPr>
        <p:spPr>
          <a:xfrm>
            <a:off x="177975" y="3844950"/>
            <a:ext cx="663006" cy="2643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308326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6.2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6" y="1201325"/>
            <a:ext cx="2658666" cy="48731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Type of style sold, but 99 respondents have skipped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Shape 323">
            <a:extLst>
              <a:ext uri="{FF2B5EF4-FFF2-40B4-BE49-F238E27FC236}">
                <a16:creationId xmlns:a16="http://schemas.microsoft.com/office/drawing/2014/main" id="{FE894AD4-43D4-4274-AF9A-9B96FC343729}"/>
              </a:ext>
            </a:extLst>
          </p:cNvPr>
          <p:cNvSpPr txBox="1"/>
          <p:nvPr/>
        </p:nvSpPr>
        <p:spPr>
          <a:xfrm>
            <a:off x="123268" y="3964676"/>
            <a:ext cx="2763233" cy="78474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style,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quiz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AC84A4-3B02-437D-A7C6-FF4886DD3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68" y="1762224"/>
            <a:ext cx="2713374" cy="20523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F4A701-F688-4584-923A-C93A4EF45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293" y="1801863"/>
            <a:ext cx="3318446" cy="2012685"/>
          </a:xfrm>
          <a:prstGeom prst="rect">
            <a:avLst/>
          </a:prstGeom>
        </p:spPr>
      </p:pic>
      <p:sp>
        <p:nvSpPr>
          <p:cNvPr id="13" name="Shape 324">
            <a:extLst>
              <a:ext uri="{FF2B5EF4-FFF2-40B4-BE49-F238E27FC236}">
                <a16:creationId xmlns:a16="http://schemas.microsoft.com/office/drawing/2014/main" id="{E46897BC-FEF4-4FA1-8C24-F37D39CC3F4E}"/>
              </a:ext>
            </a:extLst>
          </p:cNvPr>
          <p:cNvSpPr txBox="1"/>
          <p:nvPr/>
        </p:nvSpPr>
        <p:spPr>
          <a:xfrm>
            <a:off x="5684293" y="1201324"/>
            <a:ext cx="3542880" cy="487312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Analysis of highest selling products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Shape 323">
            <a:extLst>
              <a:ext uri="{FF2B5EF4-FFF2-40B4-BE49-F238E27FC236}">
                <a16:creationId xmlns:a16="http://schemas.microsoft.com/office/drawing/2014/main" id="{34D8D205-1FA4-4E77-BF61-3E9B28D8F5FB}"/>
              </a:ext>
            </a:extLst>
          </p:cNvPr>
          <p:cNvSpPr txBox="1"/>
          <p:nvPr/>
        </p:nvSpPr>
        <p:spPr>
          <a:xfrm>
            <a:off x="5684293" y="3964675"/>
            <a:ext cx="3318446" cy="784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product_id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style, price,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purchase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ORDER BY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DESC;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89AD59-FD77-48C9-930C-1CC3F20DF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763" y="1789878"/>
            <a:ext cx="2231409" cy="2024670"/>
          </a:xfrm>
          <a:prstGeom prst="rect">
            <a:avLst/>
          </a:prstGeom>
        </p:spPr>
      </p:pic>
      <p:sp>
        <p:nvSpPr>
          <p:cNvPr id="16" name="Shape 323">
            <a:extLst>
              <a:ext uri="{FF2B5EF4-FFF2-40B4-BE49-F238E27FC236}">
                <a16:creationId xmlns:a16="http://schemas.microsoft.com/office/drawing/2014/main" id="{2A04AE06-2747-4295-9373-FCB29B08B041}"/>
              </a:ext>
            </a:extLst>
          </p:cNvPr>
          <p:cNvSpPr txBox="1"/>
          <p:nvPr/>
        </p:nvSpPr>
        <p:spPr>
          <a:xfrm>
            <a:off x="2948136" y="3964675"/>
            <a:ext cx="2674522" cy="784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model_name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purchase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ORDER BY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DESC;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" name="Shape 324">
            <a:extLst>
              <a:ext uri="{FF2B5EF4-FFF2-40B4-BE49-F238E27FC236}">
                <a16:creationId xmlns:a16="http://schemas.microsoft.com/office/drawing/2014/main" id="{E48294CA-C08C-4913-9FA2-A32D012A37A1}"/>
              </a:ext>
            </a:extLst>
          </p:cNvPr>
          <p:cNvSpPr txBox="1"/>
          <p:nvPr/>
        </p:nvSpPr>
        <p:spPr>
          <a:xfrm>
            <a:off x="3144762" y="1201325"/>
            <a:ext cx="2231409" cy="48731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Analysis of best selling models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6171513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Exercise 6.3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6" name="Shape 324">
            <a:extLst>
              <a:ext uri="{FF2B5EF4-FFF2-40B4-BE49-F238E27FC236}">
                <a16:creationId xmlns:a16="http://schemas.microsoft.com/office/drawing/2014/main" id="{C0CFE978-0D1F-4F6F-8249-E3DD591F79A6}"/>
              </a:ext>
            </a:extLst>
          </p:cNvPr>
          <p:cNvSpPr txBox="1"/>
          <p:nvPr/>
        </p:nvSpPr>
        <p:spPr>
          <a:xfrm>
            <a:off x="177976" y="1201325"/>
            <a:ext cx="2658666" cy="48731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Price comparison between women’s / men’s pricing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Shape 323">
            <a:extLst>
              <a:ext uri="{FF2B5EF4-FFF2-40B4-BE49-F238E27FC236}">
                <a16:creationId xmlns:a16="http://schemas.microsoft.com/office/drawing/2014/main" id="{FE894AD4-43D4-4274-AF9A-9B96FC343729}"/>
              </a:ext>
            </a:extLst>
          </p:cNvPr>
          <p:cNvSpPr txBox="1"/>
          <p:nvPr/>
        </p:nvSpPr>
        <p:spPr>
          <a:xfrm>
            <a:off x="123268" y="3964676"/>
            <a:ext cx="2763233" cy="78474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style,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quiz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4A701-F688-4584-923A-C93A4EF4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293" y="1801863"/>
            <a:ext cx="3318446" cy="2012685"/>
          </a:xfrm>
          <a:prstGeom prst="rect">
            <a:avLst/>
          </a:prstGeom>
        </p:spPr>
      </p:pic>
      <p:sp>
        <p:nvSpPr>
          <p:cNvPr id="13" name="Shape 324">
            <a:extLst>
              <a:ext uri="{FF2B5EF4-FFF2-40B4-BE49-F238E27FC236}">
                <a16:creationId xmlns:a16="http://schemas.microsoft.com/office/drawing/2014/main" id="{E46897BC-FEF4-4FA1-8C24-F37D39CC3F4E}"/>
              </a:ext>
            </a:extLst>
          </p:cNvPr>
          <p:cNvSpPr txBox="1"/>
          <p:nvPr/>
        </p:nvSpPr>
        <p:spPr>
          <a:xfrm>
            <a:off x="5684293" y="1201324"/>
            <a:ext cx="3542880" cy="487312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Analysis of highest selling products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Shape 323">
            <a:extLst>
              <a:ext uri="{FF2B5EF4-FFF2-40B4-BE49-F238E27FC236}">
                <a16:creationId xmlns:a16="http://schemas.microsoft.com/office/drawing/2014/main" id="{34D8D205-1FA4-4E77-BF61-3E9B28D8F5FB}"/>
              </a:ext>
            </a:extLst>
          </p:cNvPr>
          <p:cNvSpPr txBox="1"/>
          <p:nvPr/>
        </p:nvSpPr>
        <p:spPr>
          <a:xfrm>
            <a:off x="5684293" y="3964675"/>
            <a:ext cx="3318446" cy="784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product_id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style, price,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purchase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ORDER BY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DESC;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89AD59-FD77-48C9-930C-1CC3F20DF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763" y="1789878"/>
            <a:ext cx="2231409" cy="2024670"/>
          </a:xfrm>
          <a:prstGeom prst="rect">
            <a:avLst/>
          </a:prstGeom>
        </p:spPr>
      </p:pic>
      <p:sp>
        <p:nvSpPr>
          <p:cNvPr id="16" name="Shape 323">
            <a:extLst>
              <a:ext uri="{FF2B5EF4-FFF2-40B4-BE49-F238E27FC236}">
                <a16:creationId xmlns:a16="http://schemas.microsoft.com/office/drawing/2014/main" id="{2A04AE06-2747-4295-9373-FCB29B08B041}"/>
              </a:ext>
            </a:extLst>
          </p:cNvPr>
          <p:cNvSpPr txBox="1"/>
          <p:nvPr/>
        </p:nvSpPr>
        <p:spPr>
          <a:xfrm>
            <a:off x="2948136" y="3964675"/>
            <a:ext cx="2674522" cy="78474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model_name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,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FROM purchase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GROUP by 1 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ORDER BY Count(Distinct </a:t>
            </a:r>
            <a:r>
              <a:rPr lang="en-SG" sz="900" dirty="0" err="1">
                <a:latin typeface="Courier New"/>
                <a:ea typeface="Courier New"/>
                <a:cs typeface="Courier New"/>
                <a:sym typeface="Courier New"/>
              </a:rPr>
              <a:t>user_id</a:t>
            </a:r>
            <a:r>
              <a:rPr lang="en-SG" sz="900" dirty="0">
                <a:latin typeface="Courier New"/>
                <a:ea typeface="Courier New"/>
                <a:cs typeface="Courier New"/>
                <a:sym typeface="Courier New"/>
              </a:rPr>
              <a:t>) DESC;</a:t>
            </a:r>
            <a:endParaRPr sz="9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" name="Shape 324">
            <a:extLst>
              <a:ext uri="{FF2B5EF4-FFF2-40B4-BE49-F238E27FC236}">
                <a16:creationId xmlns:a16="http://schemas.microsoft.com/office/drawing/2014/main" id="{E48294CA-C08C-4913-9FA2-A32D012A37A1}"/>
              </a:ext>
            </a:extLst>
          </p:cNvPr>
          <p:cNvSpPr txBox="1"/>
          <p:nvPr/>
        </p:nvSpPr>
        <p:spPr>
          <a:xfrm>
            <a:off x="3144762" y="1201325"/>
            <a:ext cx="2231409" cy="48731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latin typeface="Roboto"/>
                <a:ea typeface="Roboto"/>
                <a:cs typeface="Roboto"/>
                <a:sym typeface="Roboto"/>
              </a:rPr>
              <a:t>Analysis of best selling models</a:t>
            </a:r>
            <a:endParaRPr sz="1000" b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195D7E-F3F5-417E-95DE-DBF8ED3BB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75" y="1870419"/>
            <a:ext cx="2708525" cy="185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4701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latin typeface="Arial" charset="0"/>
                <a:cs typeface="Arial" charset="0"/>
              </a:rPr>
              <a:t>   Actionable Insights </a:t>
            </a: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 bwMode="auto">
          <a:xfrm>
            <a:off x="6553200" y="4922838"/>
            <a:ext cx="2133600" cy="2746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2</a:t>
            </a:r>
          </a:p>
        </p:txBody>
      </p:sp>
      <p:sp>
        <p:nvSpPr>
          <p:cNvPr id="49" name="Chevron 8">
            <a:extLst>
              <a:ext uri="{FF2B5EF4-FFF2-40B4-BE49-F238E27FC236}">
                <a16:creationId xmlns:a16="http://schemas.microsoft.com/office/drawing/2014/main" id="{7AC91343-9368-4B8D-9B8B-E0DF8FDFAF90}"/>
              </a:ext>
            </a:extLst>
          </p:cNvPr>
          <p:cNvSpPr/>
          <p:nvPr/>
        </p:nvSpPr>
        <p:spPr>
          <a:xfrm rot="5400000">
            <a:off x="332698" y="314204"/>
            <a:ext cx="370003" cy="3526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vert270" lIns="0" tIns="4680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1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6693E-72E4-4A1E-ABAE-3EBA5E8E6E0E}"/>
              </a:ext>
            </a:extLst>
          </p:cNvPr>
          <p:cNvSpPr txBox="1"/>
          <p:nvPr/>
        </p:nvSpPr>
        <p:spPr>
          <a:xfrm>
            <a:off x="206279" y="1190722"/>
            <a:ext cx="8657692" cy="3373400"/>
          </a:xfrm>
          <a:prstGeom prst="rect">
            <a:avLst/>
          </a:prstGeom>
          <a:solidFill>
            <a:srgbClr val="CC9900"/>
          </a:solidFill>
          <a:ln>
            <a:solidFill>
              <a:schemeClr val="tx2"/>
            </a:solidFill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72000" anchor="t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b="1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lphaUcPeriod"/>
              <a:tabLst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Continue to focus on pricier women’s styles</a:t>
            </a:r>
          </a:p>
          <a:p>
            <a:pPr lvl="7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	1. The average prices within this category are higher</a:t>
            </a:r>
          </a:p>
          <a:p>
            <a:pPr lvl="7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	2. Total profitability (price * quantity sold) is higher within this category </a:t>
            </a:r>
          </a:p>
          <a:p>
            <a:pPr lvl="7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endParaRPr lang="en-GB" sz="1200" b="1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lvl="7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endParaRPr lang="en-GB" sz="1200" b="1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lvl="7" fontAlgn="base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endParaRPr lang="en-GB" sz="1200" kern="1200" dirty="0">
              <a:solidFill>
                <a:srgbClr val="002060"/>
              </a:solidFill>
              <a:latin typeface="Arial"/>
              <a:cs typeface="Arial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200" b="1" kern="1200" dirty="0">
                <a:solidFill>
                  <a:srgbClr val="002060"/>
                </a:solidFill>
                <a:latin typeface="Arial"/>
                <a:cs typeface="Arial"/>
              </a:rPr>
              <a:t>B.  Consider discontinuing Product ID 5, lowest seller at lowest price, and continue marketing the highest selling models (Eugene Narrow and Dawes)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61582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1_Office Theme">
  <a:themeElements>
    <a:clrScheme name="PwC PowerPoint Ocean Palette">
      <a:dk1>
        <a:srgbClr val="000000"/>
      </a:dk1>
      <a:lt1>
        <a:srgbClr val="FFFFFF"/>
      </a:lt1>
      <a:dk2>
        <a:srgbClr val="3A4972"/>
      </a:dk2>
      <a:lt2>
        <a:srgbClr val="FFFFFF"/>
      </a:lt2>
      <a:accent1>
        <a:srgbClr val="2666A6"/>
      </a:accent1>
      <a:accent2>
        <a:srgbClr val="3DA8D5"/>
      </a:accent2>
      <a:accent3>
        <a:srgbClr val="8BCBE6"/>
      </a:accent3>
      <a:accent4>
        <a:srgbClr val="B1DCEE"/>
      </a:accent4>
      <a:accent5>
        <a:srgbClr val="D8EEF7"/>
      </a:accent5>
      <a:accent6>
        <a:srgbClr val="3A4972"/>
      </a:accent6>
      <a:hlink>
        <a:srgbClr val="3DA8D5"/>
      </a:hlink>
      <a:folHlink>
        <a:srgbClr val="3A49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2_Office Theme">
  <a:themeElements>
    <a:clrScheme name="PwC PowerPoint Ocean Palette">
      <a:dk1>
        <a:srgbClr val="000000"/>
      </a:dk1>
      <a:lt1>
        <a:srgbClr val="FFFFFF"/>
      </a:lt1>
      <a:dk2>
        <a:srgbClr val="3A4972"/>
      </a:dk2>
      <a:lt2>
        <a:srgbClr val="FFFFFF"/>
      </a:lt2>
      <a:accent1>
        <a:srgbClr val="2666A6"/>
      </a:accent1>
      <a:accent2>
        <a:srgbClr val="3DA8D5"/>
      </a:accent2>
      <a:accent3>
        <a:srgbClr val="8BCBE6"/>
      </a:accent3>
      <a:accent4>
        <a:srgbClr val="B1DCEE"/>
      </a:accent4>
      <a:accent5>
        <a:srgbClr val="D8EEF7"/>
      </a:accent5>
      <a:accent6>
        <a:srgbClr val="3A4972"/>
      </a:accent6>
      <a:hlink>
        <a:srgbClr val="3DA8D5"/>
      </a:hlink>
      <a:folHlink>
        <a:srgbClr val="3A49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791</Words>
  <Application>Microsoft Office PowerPoint</Application>
  <PresentationFormat>On-screen Show (16:9)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</vt:lpstr>
      <vt:lpstr>Courier New</vt:lpstr>
      <vt:lpstr>Arial</vt:lpstr>
      <vt:lpstr>MS Mincho</vt:lpstr>
      <vt:lpstr>Calibri</vt:lpstr>
      <vt:lpstr>Simple Light</vt:lpstr>
      <vt:lpstr>11_Office Theme</vt:lpstr>
      <vt:lpstr>12_Office Theme</vt:lpstr>
      <vt:lpstr>PowerPoint Presentation</vt:lpstr>
      <vt:lpstr>Content</vt:lpstr>
      <vt:lpstr>   Short Introduction</vt:lpstr>
      <vt:lpstr>   Exercise 1</vt:lpstr>
      <vt:lpstr>   Exercise 2</vt:lpstr>
      <vt:lpstr>   Exercise 2 and Exercise 3</vt:lpstr>
      <vt:lpstr>   Exercise 4</vt:lpstr>
      <vt:lpstr>   Exercise 5</vt:lpstr>
      <vt:lpstr>   Exercise 6.1</vt:lpstr>
      <vt:lpstr>   Exercise 6.2</vt:lpstr>
      <vt:lpstr>   Exercise 6.3</vt:lpstr>
      <vt:lpstr>   Actionable Insights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Capstone Templates</dc:title>
  <dc:creator>Andras Horvath</dc:creator>
  <cp:lastModifiedBy>Andras Horvath</cp:lastModifiedBy>
  <cp:revision>44</cp:revision>
  <dcterms:modified xsi:type="dcterms:W3CDTF">2018-07-09T21:04:33Z</dcterms:modified>
</cp:coreProperties>
</file>